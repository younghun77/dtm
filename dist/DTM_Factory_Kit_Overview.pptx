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828800"/>
          </a:xfrm>
          <a:prstGeom prst="rect">
            <a:avLst/>
          </a:prstGeom>
          <a:solidFill>
            <a:srgbClr val="163A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11091672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>
                <a:solidFill>
                  <a:srgbClr val="FFFFFF"/>
                </a:solidFill>
              </a:rPr>
              <a:t>DTM Factory Kit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011680"/>
            <a:ext cx="1109167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>
                <a:solidFill>
                  <a:srgbClr val="163A6A"/>
                </a:solidFill>
              </a:rPr>
              <a:t>nRF52840 Dongle 기반 Direct Test Mode 자동 RX 검사 패키지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126480"/>
            <a:ext cx="1109167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666666"/>
                </a:solidFill>
              </a:rPr>
              <a:t>nRF52840 Dongle | Bluetooth Direct Test Mode | Standalone Distribution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63A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1457432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FFFFF"/>
                </a:solidFill>
              </a:rPr>
              <a:t>1. 배경 &amp; 목적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05840"/>
            <a:ext cx="11274552" cy="5577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600">
                <a:solidFill>
                  <a:srgbClr val="163A6A"/>
                </a:solidFill>
              </a:rPr>
              <a:t>기존: nRF Connect Desktop의 Direct Test Mode 앱 + 별도 SDK 설치 필요</a:t>
            </a:r>
          </a:p>
          <a:p>
            <a:pPr lvl="1"/>
            <a:r>
              <a:rPr sz="1300">
                <a:solidFill>
                  <a:srgbClr val="666666"/>
                </a:solidFill>
              </a:rPr>
              <a:t>작업자 PC마다 환경 구축이 필요해 라인 투입 지연</a:t>
            </a:r>
          </a:p>
          <a:p>
            <a:pPr lvl="1"/>
            <a:r>
              <a:rPr sz="1300">
                <a:solidFill>
                  <a:srgbClr val="666666"/>
                </a:solidFill>
              </a:rPr>
              <a:t>DUT TX 제어와 RX 측정이 분리되어 수동 운용</a:t>
            </a:r>
          </a:p>
          <a:p>
            <a:pPr/>
            <a:r>
              <a:rPr sz="1600">
                <a:solidFill>
                  <a:srgbClr val="163A6A"/>
                </a:solidFill>
              </a:rPr>
              <a:t>목표: 별도 SDK 없이 nRF Dongle만 꽂으면 동작하는 단독 패키지</a:t>
            </a:r>
          </a:p>
          <a:p>
            <a:pPr lvl="1"/>
            <a:r>
              <a:rPr sz="1300">
                <a:solidFill>
                  <a:srgbClr val="666666"/>
                </a:solidFill>
              </a:rPr>
              <a:t>자동 RX 측정 + DUT 제어(SSH/Ethernet) 통합 GUI</a:t>
            </a:r>
          </a:p>
          <a:p>
            <a:pPr lvl="1"/>
            <a:r>
              <a:rPr sz="1300">
                <a:solidFill>
                  <a:srgbClr val="666666"/>
                </a:solidFill>
              </a:rPr>
              <a:t>실패 자동 감지 / 로그 수집 / 결과 그래프화</a:t>
            </a:r>
          </a:p>
          <a:p>
            <a:pPr lvl="1"/>
            <a:r>
              <a:rPr sz="1300">
                <a:solidFill>
                  <a:srgbClr val="666666"/>
                </a:solidFill>
              </a:rPr>
              <a:t>Standalone(외부 TX 장비) 모드 지원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F8F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1457432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FFFFF"/>
                </a:solidFill>
              </a:rPr>
              <a:t>2. 시스템 구조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05840"/>
            <a:ext cx="11274552" cy="5577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600">
                <a:solidFill>
                  <a:srgbClr val="163A6A"/>
                </a:solidFill>
              </a:rPr>
              <a:t>PC (Windows)</a:t>
            </a:r>
          </a:p>
          <a:p>
            <a:pPr lvl="1"/>
            <a:r>
              <a:rPr sz="1300">
                <a:solidFill>
                  <a:srgbClr val="666666"/>
                </a:solidFill>
              </a:rPr>
              <a:t>run_gui.bat -&gt; tools\dtm_rx_runner.py (Tkinter GUI)</a:t>
            </a:r>
          </a:p>
          <a:p>
            <a:pPr lvl="1"/>
            <a:r>
              <a:rPr sz="1300">
                <a:solidFill>
                  <a:srgbClr val="666666"/>
                </a:solidFill>
              </a:rPr>
              <a:t>dut_control.py (paramiko SSH + TCP 20000 reboot 프레임)</a:t>
            </a:r>
          </a:p>
          <a:p>
            <a:pPr lvl="1"/>
            <a:r>
              <a:rPr sz="1300">
                <a:solidFill>
                  <a:srgbClr val="666666"/>
                </a:solidFill>
              </a:rPr>
              <a:t>bin\nrfutil.exe (DFU 플래시)</a:t>
            </a:r>
          </a:p>
          <a:p>
            <a:pPr/>
            <a:r>
              <a:rPr sz="1600">
                <a:solidFill>
                  <a:srgbClr val="163A6A"/>
                </a:solidFill>
              </a:rPr>
              <a:t>Dongle (nRF52840)</a:t>
            </a:r>
          </a:p>
          <a:p>
            <a:pPr lvl="1"/>
            <a:r>
              <a:rPr sz="1300">
                <a:solidFill>
                  <a:srgbClr val="666666"/>
                </a:solidFill>
              </a:rPr>
              <a:t>DTM 펌웨어 + Legacy USB CDC-ACM 'Nordic DTM USB'</a:t>
            </a:r>
          </a:p>
          <a:p>
            <a:pPr lvl="1"/>
            <a:r>
              <a:rPr sz="1300">
                <a:solidFill>
                  <a:srgbClr val="666666"/>
                </a:solidFill>
              </a:rPr>
              <a:t>19200 8N1, Bluetooth 2-wire DTM 프로토콜</a:t>
            </a:r>
          </a:p>
          <a:p>
            <a:pPr/>
            <a:r>
              <a:rPr sz="1600">
                <a:solidFill>
                  <a:srgbClr val="163A6A"/>
                </a:solidFill>
              </a:rPr>
              <a:t>DUT (Test Sample)</a:t>
            </a:r>
          </a:p>
          <a:p>
            <a:pPr lvl="1"/>
            <a:r>
              <a:rPr sz="1300">
                <a:solidFill>
                  <a:srgbClr val="666666"/>
                </a:solidFill>
              </a:rPr>
              <a:t>SSH: bt_tx_test_39ch.sh / bt_test_off.sh</a:t>
            </a:r>
          </a:p>
          <a:p>
            <a:pPr lvl="1"/>
            <a:r>
              <a:rPr sz="1300">
                <a:solidFill>
                  <a:srgbClr val="666666"/>
                </a:solidFill>
              </a:rPr>
              <a:t>TCP 20000: KU 바이너리 reboot 프레임</a:t>
            </a:r>
          </a:p>
          <a:p>
            <a:pPr lvl="1"/>
            <a:r>
              <a:rPr sz="1300">
                <a:solidFill>
                  <a:srgbClr val="666666"/>
                </a:solidFill>
              </a:rPr>
              <a:t>/var/data/btman/bt_test.log, bt_bootstrap.log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63A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1457432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FFFFF"/>
                </a:solidFill>
              </a:rPr>
              <a:t>3. 배포 패키지 구성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05840"/>
            <a:ext cx="11274552" cy="5577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600">
                <a:solidFill>
                  <a:srgbClr val="163A6A"/>
                </a:solidFill>
              </a:rPr>
              <a:t>dtm_factory_kit/</a:t>
            </a:r>
          </a:p>
          <a:p>
            <a:pPr lvl="1"/>
            <a:r>
              <a:rPr sz="1300">
                <a:solidFill>
                  <a:srgbClr val="666666"/>
                </a:solidFill>
              </a:rPr>
              <a:t>flash_dongle.bat            nRF52840 Dongle DFU 플래시</a:t>
            </a:r>
          </a:p>
          <a:p>
            <a:pPr lvl="1"/>
            <a:r>
              <a:rPr sz="1300">
                <a:solidFill>
                  <a:srgbClr val="666666"/>
                </a:solidFill>
              </a:rPr>
              <a:t>run_gui.bat                 RX 테스트 GUI 실행 (pip 자동 설치)</a:t>
            </a:r>
          </a:p>
          <a:p>
            <a:pPr lvl="1"/>
            <a:r>
              <a:rPr sz="1300">
                <a:solidFill>
                  <a:srgbClr val="666666"/>
                </a:solidFill>
              </a:rPr>
              <a:t>README.md, CHANGELOG.md     사용·이력 문서</a:t>
            </a:r>
          </a:p>
          <a:p>
            <a:pPr lvl="1"/>
            <a:r>
              <a:rPr sz="1300">
                <a:solidFill>
                  <a:srgbClr val="666666"/>
                </a:solidFill>
              </a:rPr>
              <a:t>bin/nrfutil.exe             Nordic 통합 도구 (내장)</a:t>
            </a:r>
          </a:p>
          <a:p>
            <a:pPr lvl="1"/>
            <a:r>
              <a:rPr sz="1300">
                <a:solidFill>
                  <a:srgbClr val="666666"/>
                </a:solidFill>
              </a:rPr>
              <a:t>firmware/dtm_dongle.zip     dongle DFU 패키지</a:t>
            </a:r>
          </a:p>
          <a:p>
            <a:pPr lvl="1"/>
            <a:r>
              <a:rPr sz="1300">
                <a:solidFill>
                  <a:srgbClr val="666666"/>
                </a:solidFill>
              </a:rPr>
              <a:t>tools/dtm_rx_runner.py      통합 GUI</a:t>
            </a:r>
          </a:p>
          <a:p>
            <a:pPr lvl="1"/>
            <a:r>
              <a:rPr sz="1300">
                <a:solidFill>
                  <a:srgbClr val="666666"/>
                </a:solidFill>
              </a:rPr>
              <a:t>tools/dut_control.py        DUT 제어 라이브러리 (+ CLI)</a:t>
            </a:r>
          </a:p>
          <a:p>
            <a:pPr lvl="1"/>
            <a:r>
              <a:rPr sz="1300">
                <a:solidFill>
                  <a:srgbClr val="666666"/>
                </a:solidFill>
              </a:rPr>
              <a:t>tools/private_key.pem       OpenSSH 키 (선택)</a:t>
            </a:r>
          </a:p>
          <a:p>
            <a:pPr/>
            <a:r>
              <a:rPr sz="1600">
                <a:solidFill>
                  <a:srgbClr val="163A6A"/>
                </a:solidFill>
              </a:rPr>
              <a:t>한 폴더만 압축 해제 → 즉시 사용 (Python 3.8+ 외 추가 설치 불필요)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F8F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1457432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FFFFF"/>
                </a:solidFill>
              </a:rPr>
              <a:t>4. GUI 주요 기능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05840"/>
            <a:ext cx="11274552" cy="5577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600">
                <a:solidFill>
                  <a:srgbClr val="163A6A"/>
                </a:solidFill>
              </a:rPr>
              <a:t>메인 버튼: START RX TEST / END RX TEST / REBOOT DUT / DTM Reset / Open CSV</a:t>
            </a:r>
          </a:p>
          <a:p>
            <a:pPr/>
            <a:r>
              <a:rPr sz="1600">
                <a:solidFill>
                  <a:srgbClr val="163A6A"/>
                </a:solidFill>
              </a:rPr>
              <a:t>AUTO 행: Iterations, RX duration, Cooldown, AUTO RUN, AUTO RUN (no reboot), STOP, Plot CSV</a:t>
            </a:r>
          </a:p>
          <a:p>
            <a:pPr/>
            <a:r>
              <a:rPr sz="1600">
                <a:solidFill>
                  <a:srgbClr val="163A6A"/>
                </a:solidFill>
              </a:rPr>
              <a:t>Mode Switch: DUT-LINK &lt;-&gt; STANDALONE (dongle only) 토글</a:t>
            </a:r>
          </a:p>
          <a:p>
            <a:pPr lvl="1"/>
            <a:r>
              <a:rPr sz="1300">
                <a:solidFill>
                  <a:srgbClr val="666666"/>
                </a:solidFill>
              </a:rPr>
              <a:t>Standalone 시 AUTO/REBOOT 버튼 자동 숨김</a:t>
            </a:r>
          </a:p>
          <a:p>
            <a:pPr/>
            <a:r>
              <a:rPr sz="1600">
                <a:solidFill>
                  <a:srgbClr val="163A6A"/>
                </a:solidFill>
              </a:rPr>
              <a:t>결과: D:\factory\YY-MM-DD\rx_result.csv 자동 저장</a:t>
            </a:r>
          </a:p>
          <a:p>
            <a:pPr/>
            <a:r>
              <a:rPr sz="1600">
                <a:solidFill>
                  <a:srgbClr val="163A6A"/>
                </a:solidFill>
              </a:rPr>
              <a:t>그래프: matplotlib 있으면 라인+평균선, 없으면 Tk 캔버스 폴백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CC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1457432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FFFFF"/>
                </a:solidFill>
              </a:rPr>
              <a:t>5. 자동 실패 감지 &amp; 로그 수집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05840"/>
            <a:ext cx="11274552" cy="5577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600">
                <a:solidFill>
                  <a:srgbClr val="163A6A"/>
                </a:solidFill>
              </a:rPr>
              <a:t>AUTO 루프 중 다음 조건에서 즉시 중단 + 아티팩트 수집</a:t>
            </a:r>
          </a:p>
          <a:p>
            <a:pPr lvl="1"/>
            <a:r>
              <a:rPr sz="1300">
                <a:solidFill>
                  <a:srgbClr val="666666"/>
                </a:solidFill>
              </a:rPr>
              <a:t>rx_count == 0  (DUT TX 미발생 / FW crash 의심)</a:t>
            </a:r>
          </a:p>
          <a:p>
            <a:pPr lvl="1"/>
            <a:r>
              <a:rPr sz="1300">
                <a:solidFill>
                  <a:srgbClr val="666666"/>
                </a:solidFill>
              </a:rPr>
              <a:t>bt_test.log 에서 [ERROR][BT] 검출</a:t>
            </a:r>
          </a:p>
          <a:p>
            <a:pPr lvl="1"/>
            <a:r>
              <a:rPr sz="1300">
                <a:solidFill>
                  <a:srgbClr val="666666"/>
                </a:solidFill>
              </a:rPr>
              <a:t>bt_bootstrap.log 에서 'Fail, total boot time' 검출</a:t>
            </a:r>
          </a:p>
          <a:p>
            <a:pPr lvl="1"/>
            <a:r>
              <a:rPr sz="1300">
                <a:solidFill>
                  <a:srgbClr val="666666"/>
                </a:solidFill>
              </a:rPr>
              <a:t>로그에서 firmware-crash 시그니처 ff fd 01 08 55 00 검출</a:t>
            </a:r>
          </a:p>
          <a:p>
            <a:pPr/>
            <a:r>
              <a:rPr sz="1600">
                <a:solidFill>
                  <a:srgbClr val="163A6A"/>
                </a:solidFill>
              </a:rPr>
              <a:t>수집 절차:</a:t>
            </a:r>
          </a:p>
          <a:p>
            <a:pPr lvl="1"/>
            <a:r>
              <a:rPr sz="1300">
                <a:solidFill>
                  <a:srgbClr val="666666"/>
                </a:solidFill>
              </a:rPr>
              <a:t>SFTP로 /var/data/btman/bt_test.log, bt_bootstrap.log 다운로드</a:t>
            </a:r>
          </a:p>
          <a:p>
            <a:pPr lvl="1"/>
            <a:r>
              <a:rPr sz="1300">
                <a:solidFill>
                  <a:srgbClr val="666666"/>
                </a:solidFill>
              </a:rPr>
              <a:t>analyze_dut_logs() 가 매칭 라인을 quote 하여 출력</a:t>
            </a:r>
          </a:p>
          <a:p>
            <a:pPr lvl="1"/>
            <a:r>
              <a:rPr sz="1300">
                <a:solidFill>
                  <a:srgbClr val="666666"/>
                </a:solidFill>
              </a:rPr>
              <a:t>SSH cat /proc/tty/driver/serial 결과로 serial 상태 확인</a:t>
            </a:r>
          </a:p>
          <a:p>
            <a:pPr lvl="1"/>
            <a:r>
              <a:rPr sz="1300">
                <a:solidFill>
                  <a:srgbClr val="666666"/>
                </a:solidFill>
              </a:rPr>
              <a:t>D:\factory\YY-MM-DD\logs\HHMMSS_iterN_&lt;reason&gt;\FAILURE_SUMMARY.txt 작성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63A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1457432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FFFFF"/>
                </a:solidFill>
              </a:rPr>
              <a:t>6. 절감 내용 &amp; 효과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65760" y="1005840"/>
          <a:ext cx="11457432" cy="2880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64358"/>
                <a:gridCol w="2864358"/>
                <a:gridCol w="2864358"/>
                <a:gridCol w="2864358"/>
              </a:tblGrid>
              <a:tr h="411480">
                <a:tc>
                  <a:txBody>
                    <a:bodyPr/>
                    <a:lstStyle/>
                    <a:p>
                      <a:r>
                        <a:rPr b="1" sz="1300">
                          <a:solidFill>
                            <a:srgbClr val="FFFFFF"/>
                          </a:solidFill>
                        </a:rPr>
                        <a:t>항목</a:t>
                      </a:r>
                    </a:p>
                  </a:txBody>
                  <a:tcPr>
                    <a:solidFill>
                      <a:srgbClr val="163A6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300">
                          <a:solidFill>
                            <a:srgbClr val="FFFFFF"/>
                          </a:solidFill>
                        </a:rPr>
                        <a:t>기존</a:t>
                      </a:r>
                    </a:p>
                  </a:txBody>
                  <a:tcPr>
                    <a:solidFill>
                      <a:srgbClr val="163A6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300">
                          <a:solidFill>
                            <a:srgbClr val="FFFFFF"/>
                          </a:solidFill>
                        </a:rPr>
                        <a:t>DTM Factory Kit</a:t>
                      </a:r>
                    </a:p>
                  </a:txBody>
                  <a:tcPr>
                    <a:solidFill>
                      <a:srgbClr val="163A6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300">
                          <a:solidFill>
                            <a:srgbClr val="FFFFFF"/>
                          </a:solidFill>
                        </a:rPr>
                        <a:t>효과</a:t>
                      </a:r>
                    </a:p>
                  </a:txBody>
                  <a:tcPr>
                    <a:solidFill>
                      <a:srgbClr val="163A6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63A6A"/>
                          </a:solidFill>
                        </a:rPr>
                        <a:t>환경 셋업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63A6A"/>
                          </a:solidFill>
                        </a:rPr>
                        <a:t>nRF Connect Desktop + SDK 설치 (~30 min/대)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63A6A"/>
                          </a:solidFill>
                        </a:rPr>
                        <a:t>zip 해제 후 실행 (&lt;2 min)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63A6A"/>
                          </a:solidFill>
                        </a:rPr>
                        <a:t>초기 셋업 -90% 이상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63A6A"/>
                          </a:solidFill>
                        </a:rPr>
                        <a:t>RX 1회 측정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63A6A"/>
                          </a:solidFill>
                        </a:rPr>
                        <a:t>수동 (DUT TX 시작 → 앱에서 RX → 결과 기록)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63A6A"/>
                          </a:solidFill>
                        </a:rPr>
                        <a:t>버튼 1회 (START/END)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63A6A"/>
                          </a:solidFill>
                        </a:rPr>
                        <a:t>조작 단계 5→1, 휴먼 에러 감소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63A6A"/>
                          </a:solidFill>
                        </a:rPr>
                        <a:t>반복 1000회 실행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63A6A"/>
                          </a:solidFill>
                        </a:rPr>
                        <a:t>수동 반복 / 자체 스크립트 필요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63A6A"/>
                          </a:solidFill>
                        </a:rPr>
                        <a:t>AUTO RUN + STOP, CSV 자동 적재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63A6A"/>
                          </a:solidFill>
                        </a:rPr>
                        <a:t>야간 무인 평가 가능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63A6A"/>
                          </a:solidFill>
                        </a:rPr>
                        <a:t>실패 분석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63A6A"/>
                          </a:solidFill>
                        </a:rPr>
                        <a:t>재현 → 수동 로그 수집 (10~30 min)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63A6A"/>
                          </a:solidFill>
                        </a:rPr>
                        <a:t>자동 정지 + 로그 다운로드/분석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63A6A"/>
                          </a:solidFill>
                        </a:rPr>
                        <a:t>분석 시간 -80%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63A6A"/>
                          </a:solidFill>
                        </a:rPr>
                        <a:t>외부 TX 장비 연동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63A6A"/>
                          </a:solidFill>
                        </a:rPr>
                        <a:t>별도 툴 필요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63A6A"/>
                          </a:solidFill>
                        </a:rPr>
                        <a:t>Standalone 스위치로 즉시 전환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63A6A"/>
                          </a:solidFill>
                        </a:rPr>
                        <a:t>검사 환경 유연성 향상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63A6A"/>
                          </a:solidFill>
                        </a:rPr>
                        <a:t>결과 시각화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63A6A"/>
                          </a:solidFill>
                        </a:rPr>
                        <a:t>Excel 수작업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63A6A"/>
                          </a:solidFill>
                        </a:rPr>
                        <a:t>Plot CSV 버튼 (라인+평균)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63A6A"/>
                          </a:solidFill>
                        </a:rPr>
                        <a:t>리뷰 즉시성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F8F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1457432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FFFFF"/>
                </a:solidFill>
              </a:rPr>
              <a:t>7. 작업 흐름 비교 (Before / After)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05840"/>
            <a:ext cx="11274552" cy="5577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600">
                <a:solidFill>
                  <a:srgbClr val="163A6A"/>
                </a:solidFill>
              </a:rPr>
              <a:t>BEFORE</a:t>
            </a:r>
          </a:p>
          <a:p>
            <a:pPr lvl="1"/>
            <a:r>
              <a:rPr sz="1300">
                <a:solidFill>
                  <a:srgbClr val="666666"/>
                </a:solidFill>
              </a:rPr>
              <a:t>1) SDK / nRF Connect 설치  2) DTM 앱 실행  3) DUT TX 수동  4) 채널 별 측정</a:t>
            </a:r>
          </a:p>
          <a:p>
            <a:pPr lvl="1"/>
            <a:r>
              <a:rPr sz="1300">
                <a:solidFill>
                  <a:srgbClr val="666666"/>
                </a:solidFill>
              </a:rPr>
              <a:t>5) 결과를 별도 시트에 기록  6) 실패 시 수동 SSH 로 로그 수집</a:t>
            </a:r>
          </a:p>
          <a:p>
            <a:pPr/>
            <a:r>
              <a:rPr sz="1600">
                <a:solidFill>
                  <a:srgbClr val="163A6A"/>
                </a:solidFill>
              </a:rPr>
              <a:t>AFTER</a:t>
            </a:r>
          </a:p>
          <a:p>
            <a:pPr lvl="1"/>
            <a:r>
              <a:rPr sz="1300">
                <a:solidFill>
                  <a:srgbClr val="666666"/>
                </a:solidFill>
              </a:rPr>
              <a:t>1) flash_dongle.bat (최초 1회)  2) run_gui.bat</a:t>
            </a:r>
          </a:p>
          <a:p>
            <a:pPr lvl="1"/>
            <a:r>
              <a:rPr sz="1300">
                <a:solidFill>
                  <a:srgbClr val="666666"/>
                </a:solidFill>
              </a:rPr>
              <a:t>3) AUTO RUN 또는 START/END 버튼  4) CSV/그래프 자동</a:t>
            </a:r>
          </a:p>
          <a:p>
            <a:pPr lvl="1"/>
            <a:r>
              <a:rPr sz="1300">
                <a:solidFill>
                  <a:srgbClr val="666666"/>
                </a:solidFill>
              </a:rPr>
              <a:t>5) 실패 자동 정지 + bt_test.log/bt_bootstrap.log/serial 덤프 자동 수집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63A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1457432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FFFFF"/>
                </a:solidFill>
              </a:rPr>
              <a:t>8. 기술적 포인트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05840"/>
            <a:ext cx="11274552" cy="5577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600">
                <a:solidFill>
                  <a:srgbClr val="163A6A"/>
                </a:solidFill>
              </a:rPr>
              <a:t>Persistent SSHSession 도입으로 매 명령마다 핸드셰이크 제거</a:t>
            </a:r>
          </a:p>
          <a:p>
            <a:pPr/>
            <a:r>
              <a:rPr sz="1600">
                <a:solidFill>
                  <a:srgbClr val="163A6A"/>
                </a:solidFill>
              </a:rPr>
              <a:t>reboot_dut(): reboot 이후 TimeoutError를 정상으로 처리 → 안정적 무한 루프</a:t>
            </a:r>
          </a:p>
          <a:p>
            <a:pPr/>
            <a:r>
              <a:rPr sz="1600">
                <a:solidFill>
                  <a:srgbClr val="163A6A"/>
                </a:solidFill>
              </a:rPr>
              <a:t>fire-and-forget bt_tx_test_39ch.sh 실행 + 3s startup_delay → RX 윈도우 보장</a:t>
            </a:r>
          </a:p>
          <a:p>
            <a:pPr/>
            <a:r>
              <a:rPr sz="1600">
                <a:solidFill>
                  <a:srgbClr val="163A6A"/>
                </a:solidFill>
              </a:rPr>
              <a:t>fetch_dut_logs (SFTP) + analyze_dut_logs (텍스트/바이너리 패턴) 일체화</a:t>
            </a:r>
          </a:p>
          <a:p>
            <a:pPr/>
            <a:r>
              <a:rPr sz="1600">
                <a:solidFill>
                  <a:srgbClr val="163A6A"/>
                </a:solidFill>
              </a:rPr>
              <a:t>Plot CSV: matplotlib 또는 순수 Tk Canvas 폴백 → 클린 PC에서도 그래프 가능</a:t>
            </a:r>
          </a:p>
          <a:p>
            <a:pPr/>
            <a:r>
              <a:rPr sz="1600">
                <a:solidFill>
                  <a:srgbClr val="163A6A"/>
                </a:solidFill>
              </a:rPr>
              <a:t>Standalone 모드: SSH/이더넷 호출 전부 no-op 처리, AUTO 버튼 동적 숨김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63A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1457432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FFFFF"/>
                </a:solidFill>
              </a:rPr>
              <a:t>9. 향후 개선 후보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05840"/>
            <a:ext cx="11274552" cy="5577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600">
                <a:solidFill>
                  <a:srgbClr val="163A6A"/>
                </a:solidFill>
              </a:rPr>
              <a:t>bt_bootstrap.log STOP 문자열 감지 자동 정지 옵션 토글화</a:t>
            </a:r>
          </a:p>
          <a:p>
            <a:pPr/>
            <a:r>
              <a:rPr sz="1600">
                <a:solidFill>
                  <a:srgbClr val="163A6A"/>
                </a:solidFill>
              </a:rPr>
              <a:t>채널별 RX 결과 분리 / 멀티 그래프</a:t>
            </a:r>
          </a:p>
          <a:p>
            <a:pPr/>
            <a:r>
              <a:rPr sz="1600">
                <a:solidFill>
                  <a:srgbClr val="163A6A"/>
                </a:solidFill>
              </a:rPr>
              <a:t>DUT IP, SSH 사용자, 기본 채널을 config.ini로 외부화</a:t>
            </a:r>
          </a:p>
          <a:p>
            <a:pPr/>
            <a:r>
              <a:rPr sz="1600">
                <a:solidFill>
                  <a:srgbClr val="163A6A"/>
                </a:solidFill>
              </a:rPr>
              <a:t>GUI 로그를 파일로도 동시 저장 (logs/YYYY-MM-DD.log)</a:t>
            </a:r>
          </a:p>
          <a:p>
            <a:pPr/>
            <a:r>
              <a:rPr sz="1600">
                <a:solidFill>
                  <a:srgbClr val="163A6A"/>
                </a:solidFill>
              </a:rPr>
              <a:t>GitHub Release 태깅 자동화 (gh release create)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